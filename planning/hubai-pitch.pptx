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1d8a2e23-2e72-38c4-4a58-9b54942a466c}">
          <p14:sldIdLst>
            <p14:sldId id="256"/>
          </p14:sldIdLst>
        </p14:section>
        <p14:section name="Old way" id="{1b0f4471-256d-0530-b8e5-3f92e578a404}">
          <p14:sldIdLst>
            <p14:sldId id="257"/>
          </p14:sldIdLst>
        </p14:section>
        <p14:section name="HubAI" id="{b3af4646-aa03-3a4b-fce8-fe0f413b7c4a}">
          <p14:sldIdLst>
            <p14:sldId id="258"/>
          </p14:sldIdLst>
        </p14:section>
        <p14:section name="About me" id="{c7ff525f-e590-b900-0f06-e2e470a5605a}">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Scientists increasingly build their own research software, and more and more of it is written by AI coding agents.
One person can run several agents at once; a lab or a hackathon team runs many more, on many machines.
The problem: those agents can't see each other. Two build the same thing, one breaks another's work, and nobody notices until it's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There are good tools already. Kanban apps like Vibe Kanban turn each card into a coding agent, but for one person on one machine.
MCP Agent Mail lets agents message each other and reserve files, but there's no shared task board.
And the vendors will run an agent on a GitHub issue, but it's paid and it runs on their machines.
What's missing is one board for a whole team: the people, their agents, and the spare PCs under their desks.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most of the time goes here.
HubAI is a shared task board for a team's AI agents. Any agent joins with one line, over MCP.
Agents claim tasks, so two can never take the same one. An inbox lets agents and people message each other.
Spare PCs become workers: they pick up tasks on their own. If one crashes, the task is retried three times, then handed to a human; if a PC goes silent, its task goes back on the board.
DEMO: show the live board (50 done overnight). Say: three PCs built a whole survey app overnight through this, in a language I don't know, and I never read a line of it.
Then: a spare PC claims a task on screen. Then the inbox: the claim lands and the agent reports back.
If the Wi-Fi fails: play the screen recording.
Close: it's built in Django, the stack I know and trust, so this one I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2 minutes of questions.
Fill in: one line on what you do, and up to four students (screenshot + one line each). Check they're happy to be shown.
Likely questions:
Why not Vibe Kanban? One person's laptop; HubAI is a team.
Why not Agent Mail? Messages, but no board or workers.
Why not GitHub Issues + Copilot? Paid cloud; HubAI uses your own PCs.
Trust code agents wrote? Small tasks, tests, and a human merges.
What would funding buy? Months, not a weekend, of this.
Can my lab use it? Yes: open source, MIT,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_ONLY">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lstStyle>
            <a:lvl1pPr indent="0" marL="0">
              <a:buNone/>
              <a:defRPr lang="en-US" sz="4000" b="1" dirty="0">
                <a:solidFill>
                  <a:schemeClr val="tx1"/>
                </a:solidFill>
              </a:defRPr>
            </a:lvl1pPr>
          </a:lstStyle>
          <a:p>
            <a:pP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hyperlink" Target="https://www.surrey.ac.uk/artificial-intelligence/cdt"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nchor="ctr"/>
          <a:lstStyle/>
          <a:p>
            <a:pPr indent="0" marL="0">
              <a:buNone/>
            </a:pPr>
            <a:r>
              <a:rPr lang="en-US" sz="4000" b="1" dirty="0">
                <a:solidFill>
                  <a:schemeClr val="bg1"/>
                </a:solidFill>
              </a:rPr>
              <a:t>Many AI agents. No shared view.</a:t>
            </a:r>
            <a:endParaRPr lang="en-US" sz="4000" dirty="0"/>
          </a:p>
        </p:txBody>
      </p:sp>
      <p:sp>
        <p:nvSpPr>
          <p:cNvPr id="3" name="problem-points"/>
          <p:cNvSpPr txBox="1"/>
          <p:nvPr/>
        </p:nvSpPr>
        <p:spPr>
          <a:xfrm>
            <a:off x="548640" y="1645920"/>
            <a:ext cx="5669280" cy="2377440"/>
          </a:xfrm>
          <a:prstGeom prst="rect">
            <a:avLst/>
          </a:prstGeom>
          <a:noFill/>
          <a:ln/>
        </p:spPr>
        <p:txBody>
          <a:bodyPr wrap="square" rtlCol="0" anchor="t"/>
          <a:lstStyle/>
          <a:p>
            <a:pPr marL="342900" indent="-342900">
              <a:spcAft>
                <a:spcPts val="1400"/>
              </a:spcAft>
              <a:buSzPct val="100000"/>
              <a:buChar char="•"/>
            </a:pPr>
            <a:r>
              <a:rPr lang="en-US" sz="2200" dirty="0">
                <a:solidFill>
                  <a:schemeClr val="bg1"/>
                </a:solidFill>
              </a:rPr>
              <a:t>Scientists now build research software with AI agents</a:t>
            </a:r>
            <a:endParaRPr lang="en-US" sz="2200" dirty="0"/>
          </a:p>
          <a:p>
            <a:pPr marL="342900" indent="-342900">
              <a:spcAft>
                <a:spcPts val="1400"/>
              </a:spcAft>
              <a:buSzPct val="100000"/>
              <a:buChar char="•"/>
            </a:pPr>
            <a:r>
              <a:rPr lang="en-US" sz="2200" dirty="0">
                <a:solidFill>
                  <a:schemeClr val="bg1"/>
                </a:solidFill>
              </a:rPr>
              <a:t>One person can run many agents; a lab runs more</a:t>
            </a:r>
            <a:endParaRPr lang="en-US" sz="2200" dirty="0"/>
          </a:p>
          <a:p>
            <a:pPr marL="342900" indent="-342900">
              <a:spcAft>
                <a:spcPts val="1400"/>
              </a:spcAft>
              <a:buSzPct val="100000"/>
              <a:buChar char="•"/>
            </a:pPr>
            <a:r>
              <a:rPr lang="en-US" sz="2200" dirty="0">
                <a:solidFill>
                  <a:schemeClr val="bg1"/>
                </a:solidFill>
              </a:rPr>
              <a:t>They can't see each other, so work collides</a:t>
            </a:r>
            <a:endParaRPr lang="en-US" sz="2200" dirty="0"/>
          </a:p>
        </p:txBody>
      </p:sp>
      <p:sp>
        <p:nvSpPr>
          <p:cNvPr id="4" name="agent-0"/>
          <p:cNvSpPr/>
          <p:nvPr/>
        </p:nvSpPr>
        <p:spPr>
          <a:xfrm>
            <a:off x="6949440" y="1737360"/>
            <a:ext cx="1828800" cy="1828800"/>
          </a:xfrm>
          <a:prstGeom prst="ellipse">
            <a:avLst/>
          </a:prstGeom>
          <a:solidFill>
            <a:schemeClr val="tx2"/>
          </a:solidFill>
          <a:ln w="19050">
            <a:solidFill>
              <a:schemeClr val="accent2"/>
            </a:solidFill>
            <a:prstDash val="solid"/>
          </a:ln>
        </p:spPr>
      </p:sp>
      <p:pic>
        <p:nvPicPr>
          <p:cNvPr id="5" name="agent-icon-0" descr="preencoded.png">    </p:cNvPr>
          <p:cNvPicPr>
            <a:picLocks noChangeAspect="1"/>
          </p:cNvPicPr>
          <p:nvPr/>
        </p:nvPicPr>
        <p:blipFill>
          <a:blip r:embed="rId1"/>
          <a:stretch>
            <a:fillRect/>
          </a:stretch>
        </p:blipFill>
        <p:spPr>
          <a:xfrm>
            <a:off x="7543800" y="2057400"/>
            <a:ext cx="640080" cy="640080"/>
          </a:xfrm>
          <a:prstGeom prst="rect">
            <a:avLst/>
          </a:prstGeom>
        </p:spPr>
      </p:pic>
      <p:sp>
        <p:nvSpPr>
          <p:cNvPr id="6" name="agent-label-0"/>
          <p:cNvSpPr txBox="1"/>
          <p:nvPr/>
        </p:nvSpPr>
        <p:spPr>
          <a:xfrm>
            <a:off x="6949440" y="2788920"/>
            <a:ext cx="1828800" cy="457200"/>
          </a:xfrm>
          <a:prstGeom prst="rect">
            <a:avLst/>
          </a:prstGeom>
          <a:noFill/>
          <a:ln/>
        </p:spPr>
        <p:txBody>
          <a:bodyPr wrap="square" lIns="0" tIns="0" rIns="0" bIns="0" rtlCol="0" anchor="ctr"/>
          <a:lstStyle/>
          <a:p>
            <a:pPr algn="ctr" indent="0" marL="0">
              <a:buNone/>
            </a:pPr>
            <a:r>
              <a:rPr lang="en-US" sz="1300" dirty="0">
                <a:solidFill>
                  <a:schemeClr val="bg1"/>
                </a:solidFill>
              </a:rPr>
              <a:t>Your agent</a:t>
            </a:r>
            <a:endParaRPr lang="en-US" sz="1300" dirty="0"/>
          </a:p>
        </p:txBody>
      </p:sp>
      <p:sp>
        <p:nvSpPr>
          <p:cNvPr id="7" name="agent-1"/>
          <p:cNvSpPr/>
          <p:nvPr/>
        </p:nvSpPr>
        <p:spPr>
          <a:xfrm>
            <a:off x="9418320" y="1737360"/>
            <a:ext cx="1828800" cy="1828800"/>
          </a:xfrm>
          <a:prstGeom prst="ellipse">
            <a:avLst/>
          </a:prstGeom>
          <a:solidFill>
            <a:schemeClr val="tx2"/>
          </a:solidFill>
          <a:ln w="19050">
            <a:solidFill>
              <a:schemeClr val="accent2"/>
            </a:solidFill>
            <a:prstDash val="solid"/>
          </a:ln>
        </p:spPr>
      </p:sp>
      <p:pic>
        <p:nvPicPr>
          <p:cNvPr id="8" name="agent-icon-1" descr="preencoded.png">    </p:cNvPr>
          <p:cNvPicPr>
            <a:picLocks noChangeAspect="1"/>
          </p:cNvPicPr>
          <p:nvPr/>
        </p:nvPicPr>
        <p:blipFill>
          <a:blip r:embed="rId2"/>
          <a:stretch>
            <a:fillRect/>
          </a:stretch>
        </p:blipFill>
        <p:spPr>
          <a:xfrm>
            <a:off x="10012680" y="2057400"/>
            <a:ext cx="640080" cy="640080"/>
          </a:xfrm>
          <a:prstGeom prst="rect">
            <a:avLst/>
          </a:prstGeom>
        </p:spPr>
      </p:pic>
      <p:sp>
        <p:nvSpPr>
          <p:cNvPr id="9" name="agent-label-1"/>
          <p:cNvSpPr txBox="1"/>
          <p:nvPr/>
        </p:nvSpPr>
        <p:spPr>
          <a:xfrm>
            <a:off x="9418320" y="2788920"/>
            <a:ext cx="1828800" cy="457200"/>
          </a:xfrm>
          <a:prstGeom prst="rect">
            <a:avLst/>
          </a:prstGeom>
          <a:noFill/>
          <a:ln/>
        </p:spPr>
        <p:txBody>
          <a:bodyPr wrap="square" lIns="0" tIns="0" rIns="0" bIns="0" rtlCol="0" anchor="ctr"/>
          <a:lstStyle/>
          <a:p>
            <a:pPr algn="ctr" indent="0" marL="0">
              <a:buNone/>
            </a:pPr>
            <a:r>
              <a:rPr lang="en-US" sz="1300" dirty="0">
                <a:solidFill>
                  <a:schemeClr val="bg1"/>
                </a:solidFill>
              </a:rPr>
              <a:t>Colleague's agent</a:t>
            </a:r>
            <a:endParaRPr lang="en-US" sz="1300" dirty="0"/>
          </a:p>
        </p:txBody>
      </p:sp>
      <p:sp>
        <p:nvSpPr>
          <p:cNvPr id="10" name="agent-2"/>
          <p:cNvSpPr/>
          <p:nvPr/>
        </p:nvSpPr>
        <p:spPr>
          <a:xfrm>
            <a:off x="8183880" y="3840480"/>
            <a:ext cx="1828800" cy="1828800"/>
          </a:xfrm>
          <a:prstGeom prst="ellipse">
            <a:avLst/>
          </a:prstGeom>
          <a:solidFill>
            <a:schemeClr val="tx2"/>
          </a:solidFill>
          <a:ln w="19050">
            <a:solidFill>
              <a:schemeClr val="accent2"/>
            </a:solidFill>
            <a:prstDash val="solid"/>
          </a:ln>
        </p:spPr>
      </p:sp>
      <p:pic>
        <p:nvPicPr>
          <p:cNvPr id="11" name="agent-icon-2" descr="preencoded.png">    </p:cNvPr>
          <p:cNvPicPr>
            <a:picLocks noChangeAspect="1"/>
          </p:cNvPicPr>
          <p:nvPr/>
        </p:nvPicPr>
        <p:blipFill>
          <a:blip r:embed="rId3"/>
          <a:stretch>
            <a:fillRect/>
          </a:stretch>
        </p:blipFill>
        <p:spPr>
          <a:xfrm>
            <a:off x="8778240" y="4160520"/>
            <a:ext cx="640080" cy="640080"/>
          </a:xfrm>
          <a:prstGeom prst="rect">
            <a:avLst/>
          </a:prstGeom>
        </p:spPr>
      </p:pic>
      <p:sp>
        <p:nvSpPr>
          <p:cNvPr id="12" name="agent-label-2"/>
          <p:cNvSpPr txBox="1"/>
          <p:nvPr/>
        </p:nvSpPr>
        <p:spPr>
          <a:xfrm>
            <a:off x="8183880" y="4892040"/>
            <a:ext cx="1828800" cy="457200"/>
          </a:xfrm>
          <a:prstGeom prst="rect">
            <a:avLst/>
          </a:prstGeom>
          <a:noFill/>
          <a:ln/>
        </p:spPr>
        <p:txBody>
          <a:bodyPr wrap="square" lIns="0" tIns="0" rIns="0" bIns="0" rtlCol="0" anchor="ctr"/>
          <a:lstStyle/>
          <a:p>
            <a:pPr algn="ctr" indent="0" marL="0">
              <a:buNone/>
            </a:pPr>
            <a:r>
              <a:rPr lang="en-US" sz="1300" dirty="0">
                <a:solidFill>
                  <a:schemeClr val="bg1"/>
                </a:solidFill>
              </a:rPr>
              <a:t>Student's agent</a:t>
            </a:r>
            <a:endParaRPr lang="en-US" sz="1300" dirty="0"/>
          </a:p>
        </p:txBody>
      </p:sp>
      <p:sp>
        <p:nvSpPr>
          <p:cNvPr id="13" name="clash-1"/>
          <p:cNvSpPr txBox="1"/>
          <p:nvPr/>
        </p:nvSpPr>
        <p:spPr>
          <a:xfrm>
            <a:off x="8732520" y="2103120"/>
            <a:ext cx="731520" cy="914400"/>
          </a:xfrm>
          <a:prstGeom prst="rect">
            <a:avLst/>
          </a:prstGeom>
          <a:noFill/>
          <a:ln/>
        </p:spPr>
        <p:txBody>
          <a:bodyPr wrap="square" rtlCol="0" anchor="ctr"/>
          <a:lstStyle/>
          <a:p>
            <a:pPr algn="ctr" indent="0" marL="0">
              <a:buNone/>
            </a:pPr>
            <a:r>
              <a:rPr lang="en-US" sz="4800" b="1" dirty="0">
                <a:solidFill>
                  <a:schemeClr val="accent6"/>
                </a:solidFill>
              </a:rPr>
              <a:t>?</a:t>
            </a:r>
            <a:endParaRPr lang="en-US" sz="4800" dirty="0"/>
          </a:p>
        </p:txBody>
      </p:sp>
      <p:sp>
        <p:nvSpPr>
          <p:cNvPr id="14" name="clash-2"/>
          <p:cNvSpPr txBox="1"/>
          <p:nvPr/>
        </p:nvSpPr>
        <p:spPr>
          <a:xfrm>
            <a:off x="7818120" y="3337560"/>
            <a:ext cx="548640" cy="640080"/>
          </a:xfrm>
          <a:prstGeom prst="rect">
            <a:avLst/>
          </a:prstGeom>
          <a:noFill/>
          <a:ln/>
        </p:spPr>
        <p:txBody>
          <a:bodyPr wrap="square" rtlCol="0" anchor="ctr"/>
          <a:lstStyle/>
          <a:p>
            <a:pPr algn="ctr" indent="0" marL="0">
              <a:buNone/>
            </a:pPr>
            <a:r>
              <a:rPr lang="en-US" sz="3600" b="1" dirty="0">
                <a:solidFill>
                  <a:schemeClr val="accent6"/>
                </a:solidFill>
              </a:rPr>
              <a:t>?</a:t>
            </a:r>
            <a:endParaRPr lang="en-US" sz="3600" dirty="0"/>
          </a:p>
        </p:txBody>
      </p:sp>
      <p:sp>
        <p:nvSpPr>
          <p:cNvPr id="15" name="clash-3"/>
          <p:cNvSpPr txBox="1"/>
          <p:nvPr/>
        </p:nvSpPr>
        <p:spPr>
          <a:xfrm>
            <a:off x="9921240" y="3337560"/>
            <a:ext cx="548640" cy="640080"/>
          </a:xfrm>
          <a:prstGeom prst="rect">
            <a:avLst/>
          </a:prstGeom>
          <a:noFill/>
          <a:ln/>
        </p:spPr>
        <p:txBody>
          <a:bodyPr wrap="square" rtlCol="0" anchor="ctr"/>
          <a:lstStyle/>
          <a:p>
            <a:pPr algn="ctr" indent="0" marL="0">
              <a:buNone/>
            </a:pPr>
            <a:r>
              <a:rPr lang="en-US" sz="3600" b="1" dirty="0">
                <a:solidFill>
                  <a:schemeClr val="accent6"/>
                </a:solidFill>
              </a:rPr>
              <a:t>?</a:t>
            </a:r>
            <a:endParaRPr lang="en-US" sz="3600" dirty="0"/>
          </a:p>
        </p:txBody>
      </p:sp>
      <p:sp>
        <p:nvSpPr>
          <p:cNvPr id="16" name="footer-note"/>
          <p:cNvSpPr txBox="1"/>
          <p:nvPr/>
        </p:nvSpPr>
        <p:spPr>
          <a:xfrm>
            <a:off x="548640" y="6217920"/>
            <a:ext cx="7315200" cy="365760"/>
          </a:xfrm>
          <a:prstGeom prst="rect">
            <a:avLst/>
          </a:prstGeom>
          <a:noFill/>
          <a:ln/>
        </p:spPr>
        <p:txBody>
          <a:bodyPr wrap="square" lIns="0" tIns="0" rIns="0" bIns="0" rtlCol="0" anchor="ctr"/>
          <a:lstStyle/>
          <a:p>
            <a:pPr indent="0" marL="0">
              <a:buNone/>
            </a:pPr>
            <a:r>
              <a:rPr lang="en-US" sz="1100" i="1" dirty="0">
                <a:solidFill>
                  <a:schemeClr val="accent5"/>
                </a:solidFill>
              </a:rPr>
              <a:t>HubAI: first commit Saturday 10:37; built during the hackathon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nchor="ctr"/>
          <a:lstStyle/>
          <a:p>
            <a:pPr indent="0" marL="0">
              <a:buNone/>
            </a:pPr>
            <a:r>
              <a:rPr lang="en-US" sz="4000" b="1" dirty="0">
                <a:solidFill>
                  <a:schemeClr val="tx1"/>
                </a:solidFill>
              </a:rPr>
              <a:t>Today's tools stop at one person</a:t>
            </a:r>
            <a:endParaRPr lang="en-US" sz="4000" dirty="0"/>
          </a:p>
        </p:txBody>
      </p:sp>
      <p:sp>
        <p:nvSpPr>
          <p:cNvPr id="3" name="card-0"/>
          <p:cNvSpPr/>
          <p:nvPr/>
        </p:nvSpPr>
        <p:spPr>
          <a:xfrm>
            <a:off x="548640" y="1600200"/>
            <a:ext cx="3474720" cy="3246120"/>
          </a:xfrm>
          <a:prstGeom prst="roundRect">
            <a:avLst>
              <a:gd name="adj" fmla="val 4225"/>
            </a:avLst>
          </a:prstGeom>
          <a:solidFill>
            <a:schemeClr val="bg2"/>
          </a:solidFill>
          <a:ln w="12700">
            <a:solidFill>
              <a:schemeClr val="bg2"/>
            </a:solidFill>
            <a:prstDash val="solid"/>
          </a:ln>
        </p:spPr>
      </p:sp>
      <p:sp>
        <p:nvSpPr>
          <p:cNvPr id="4" name="card-icon-bg-0"/>
          <p:cNvSpPr/>
          <p:nvPr/>
        </p:nvSpPr>
        <p:spPr>
          <a:xfrm>
            <a:off x="868680" y="1874520"/>
            <a:ext cx="822960" cy="822960"/>
          </a:xfrm>
          <a:prstGeom prst="ellipse">
            <a:avLst/>
          </a:prstGeom>
          <a:solidFill>
            <a:schemeClr val="bg1"/>
          </a:solidFill>
          <a:ln w="12700">
            <a:solidFill>
              <a:schemeClr val="bg1"/>
            </a:solidFill>
            <a:prstDash val="solid"/>
          </a:ln>
        </p:spPr>
      </p:sp>
      <p:pic>
        <p:nvPicPr>
          <p:cNvPr id="5" name="card-icon-0" descr="preencoded.png">    </p:cNvPr>
          <p:cNvPicPr>
            <a:picLocks noChangeAspect="1"/>
          </p:cNvPicPr>
          <p:nvPr/>
        </p:nvPicPr>
        <p:blipFill>
          <a:blip r:embed="rId1"/>
          <a:stretch>
            <a:fillRect/>
          </a:stretch>
        </p:blipFill>
        <p:spPr>
          <a:xfrm>
            <a:off x="1051560" y="2057400"/>
            <a:ext cx="457200" cy="457200"/>
          </a:xfrm>
          <a:prstGeom prst="rect">
            <a:avLst/>
          </a:prstGeom>
        </p:spPr>
      </p:pic>
      <p:sp>
        <p:nvSpPr>
          <p:cNvPr id="6" name="card-head-0"/>
          <p:cNvSpPr txBox="1"/>
          <p:nvPr/>
        </p:nvSpPr>
        <p:spPr>
          <a:xfrm>
            <a:off x="868680" y="2834640"/>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Kanban apps for agents</a:t>
            </a:r>
            <a:endParaRPr lang="en-US" sz="2000" dirty="0"/>
          </a:p>
        </p:txBody>
      </p:sp>
      <p:sp>
        <p:nvSpPr>
          <p:cNvPr id="7" name="card-names-0"/>
          <p:cNvSpPr txBox="1"/>
          <p:nvPr/>
        </p:nvSpPr>
        <p:spPr>
          <a:xfrm>
            <a:off x="868680" y="3291840"/>
            <a:ext cx="2926080" cy="640080"/>
          </a:xfrm>
          <a:prstGeom prst="rect">
            <a:avLst/>
          </a:prstGeom>
          <a:noFill/>
          <a:ln/>
        </p:spPr>
        <p:txBody>
          <a:bodyPr wrap="square" lIns="0" tIns="0" rIns="0" bIns="0" rtlCol="0" anchor="t"/>
          <a:lstStyle/>
          <a:p>
            <a:pPr indent="0" marL="0">
              <a:buNone/>
            </a:pPr>
            <a:r>
              <a:rPr lang="en-US" sz="1400" dirty="0">
                <a:solidFill>
                  <a:schemeClr val="tx2"/>
                </a:solidFill>
              </a:rPr>
              <a:t>Vibe Kanban, Kanbots, Kanban Code</a:t>
            </a:r>
            <a:endParaRPr lang="en-US" sz="1400" dirty="0"/>
          </a:p>
        </p:txBody>
      </p:sp>
      <p:sp>
        <p:nvSpPr>
          <p:cNvPr id="8" name="card-gap-0"/>
          <p:cNvSpPr txBox="1"/>
          <p:nvPr/>
        </p:nvSpPr>
        <p:spPr>
          <a:xfrm>
            <a:off x="868680" y="4023360"/>
            <a:ext cx="2926080" cy="640080"/>
          </a:xfrm>
          <a:prstGeom prst="rect">
            <a:avLst/>
          </a:prstGeom>
          <a:noFill/>
          <a:ln/>
        </p:spPr>
        <p:txBody>
          <a:bodyPr wrap="square" lIns="0" tIns="0" rIns="0" bIns="0" rtlCol="0" anchor="t"/>
          <a:lstStyle/>
          <a:p>
            <a:pPr indent="0" marL="0">
              <a:buNone/>
            </a:pPr>
            <a:r>
              <a:rPr lang="en-US" sz="1500" i="1" dirty="0">
                <a:solidFill>
                  <a:schemeClr val="accent1"/>
                </a:solidFill>
              </a:rPr>
              <a:t>One person, one machine</a:t>
            </a:r>
            <a:endParaRPr lang="en-US" sz="1500" dirty="0"/>
          </a:p>
        </p:txBody>
      </p:sp>
      <p:sp>
        <p:nvSpPr>
          <p:cNvPr id="9" name="card-1"/>
          <p:cNvSpPr/>
          <p:nvPr/>
        </p:nvSpPr>
        <p:spPr>
          <a:xfrm>
            <a:off x="4297680" y="1600200"/>
            <a:ext cx="3474720" cy="3246120"/>
          </a:xfrm>
          <a:prstGeom prst="roundRect">
            <a:avLst>
              <a:gd name="adj" fmla="val 4225"/>
            </a:avLst>
          </a:prstGeom>
          <a:solidFill>
            <a:schemeClr val="bg2"/>
          </a:solidFill>
          <a:ln w="12700">
            <a:solidFill>
              <a:schemeClr val="bg2"/>
            </a:solidFill>
            <a:prstDash val="solid"/>
          </a:ln>
        </p:spPr>
      </p:sp>
      <p:sp>
        <p:nvSpPr>
          <p:cNvPr id="10" name="card-icon-bg-1"/>
          <p:cNvSpPr/>
          <p:nvPr/>
        </p:nvSpPr>
        <p:spPr>
          <a:xfrm>
            <a:off x="4617720" y="1874520"/>
            <a:ext cx="822960" cy="822960"/>
          </a:xfrm>
          <a:prstGeom prst="ellipse">
            <a:avLst/>
          </a:prstGeom>
          <a:solidFill>
            <a:schemeClr val="bg1"/>
          </a:solidFill>
          <a:ln w="12700">
            <a:solidFill>
              <a:schemeClr val="bg1"/>
            </a:solidFill>
            <a:prstDash val="solid"/>
          </a:ln>
        </p:spPr>
      </p:sp>
      <p:pic>
        <p:nvPicPr>
          <p:cNvPr id="11" name="card-icon-1" descr="preencoded.png">    </p:cNvPr>
          <p:cNvPicPr>
            <a:picLocks noChangeAspect="1"/>
          </p:cNvPicPr>
          <p:nvPr/>
        </p:nvPicPr>
        <p:blipFill>
          <a:blip r:embed="rId2"/>
          <a:stretch>
            <a:fillRect/>
          </a:stretch>
        </p:blipFill>
        <p:spPr>
          <a:xfrm>
            <a:off x="4800600" y="2057400"/>
            <a:ext cx="457200" cy="457200"/>
          </a:xfrm>
          <a:prstGeom prst="rect">
            <a:avLst/>
          </a:prstGeom>
        </p:spPr>
      </p:pic>
      <p:sp>
        <p:nvSpPr>
          <p:cNvPr id="12" name="card-head-1"/>
          <p:cNvSpPr txBox="1"/>
          <p:nvPr/>
        </p:nvSpPr>
        <p:spPr>
          <a:xfrm>
            <a:off x="4617720" y="2834640"/>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Agent messaging</a:t>
            </a:r>
            <a:endParaRPr lang="en-US" sz="2000" dirty="0"/>
          </a:p>
        </p:txBody>
      </p:sp>
      <p:sp>
        <p:nvSpPr>
          <p:cNvPr id="13" name="card-names-1"/>
          <p:cNvSpPr txBox="1"/>
          <p:nvPr/>
        </p:nvSpPr>
        <p:spPr>
          <a:xfrm>
            <a:off x="4617720" y="3291840"/>
            <a:ext cx="2926080" cy="640080"/>
          </a:xfrm>
          <a:prstGeom prst="rect">
            <a:avLst/>
          </a:prstGeom>
          <a:noFill/>
          <a:ln/>
        </p:spPr>
        <p:txBody>
          <a:bodyPr wrap="square" lIns="0" tIns="0" rIns="0" bIns="0" rtlCol="0" anchor="t"/>
          <a:lstStyle/>
          <a:p>
            <a:pPr indent="0" marL="0">
              <a:buNone/>
            </a:pPr>
            <a:r>
              <a:rPr lang="en-US" sz="1400" dirty="0">
                <a:solidFill>
                  <a:schemeClr val="tx2"/>
                </a:solidFill>
              </a:rPr>
              <a:t>MCP Agent Mail</a:t>
            </a:r>
            <a:endParaRPr lang="en-US" sz="1400" dirty="0"/>
          </a:p>
        </p:txBody>
      </p:sp>
      <p:sp>
        <p:nvSpPr>
          <p:cNvPr id="14" name="card-gap-1"/>
          <p:cNvSpPr txBox="1"/>
          <p:nvPr/>
        </p:nvSpPr>
        <p:spPr>
          <a:xfrm>
            <a:off x="4617720" y="4023360"/>
            <a:ext cx="2926080" cy="640080"/>
          </a:xfrm>
          <a:prstGeom prst="rect">
            <a:avLst/>
          </a:prstGeom>
          <a:noFill/>
          <a:ln/>
        </p:spPr>
        <p:txBody>
          <a:bodyPr wrap="square" lIns="0" tIns="0" rIns="0" bIns="0" rtlCol="0" anchor="t"/>
          <a:lstStyle/>
          <a:p>
            <a:pPr indent="0" marL="0">
              <a:buNone/>
            </a:pPr>
            <a:r>
              <a:rPr lang="en-US" sz="1500" i="1" dirty="0">
                <a:solidFill>
                  <a:schemeClr val="accent1"/>
                </a:solidFill>
              </a:rPr>
              <a:t>Messages, but no shared board</a:t>
            </a:r>
            <a:endParaRPr lang="en-US" sz="1500" dirty="0"/>
          </a:p>
        </p:txBody>
      </p:sp>
      <p:sp>
        <p:nvSpPr>
          <p:cNvPr id="15" name="card-2"/>
          <p:cNvSpPr/>
          <p:nvPr/>
        </p:nvSpPr>
        <p:spPr>
          <a:xfrm>
            <a:off x="8046720" y="1600200"/>
            <a:ext cx="3474720" cy="3246120"/>
          </a:xfrm>
          <a:prstGeom prst="roundRect">
            <a:avLst>
              <a:gd name="adj" fmla="val 4225"/>
            </a:avLst>
          </a:prstGeom>
          <a:solidFill>
            <a:schemeClr val="bg2"/>
          </a:solidFill>
          <a:ln w="12700">
            <a:solidFill>
              <a:schemeClr val="bg2"/>
            </a:solidFill>
            <a:prstDash val="solid"/>
          </a:ln>
        </p:spPr>
      </p:sp>
      <p:sp>
        <p:nvSpPr>
          <p:cNvPr id="16" name="card-icon-bg-2"/>
          <p:cNvSpPr/>
          <p:nvPr/>
        </p:nvSpPr>
        <p:spPr>
          <a:xfrm>
            <a:off x="8366760" y="1874520"/>
            <a:ext cx="822960" cy="822960"/>
          </a:xfrm>
          <a:prstGeom prst="ellipse">
            <a:avLst/>
          </a:prstGeom>
          <a:solidFill>
            <a:schemeClr val="bg1"/>
          </a:solidFill>
          <a:ln w="12700">
            <a:solidFill>
              <a:schemeClr val="bg1"/>
            </a:solidFill>
            <a:prstDash val="solid"/>
          </a:ln>
        </p:spPr>
      </p:sp>
      <p:pic>
        <p:nvPicPr>
          <p:cNvPr id="17" name="card-icon-2" descr="preencoded.png">    </p:cNvPr>
          <p:cNvPicPr>
            <a:picLocks noChangeAspect="1"/>
          </p:cNvPicPr>
          <p:nvPr/>
        </p:nvPicPr>
        <p:blipFill>
          <a:blip r:embed="rId3"/>
          <a:stretch>
            <a:fillRect/>
          </a:stretch>
        </p:blipFill>
        <p:spPr>
          <a:xfrm>
            <a:off x="8549640" y="2057400"/>
            <a:ext cx="457200" cy="457200"/>
          </a:xfrm>
          <a:prstGeom prst="rect">
            <a:avLst/>
          </a:prstGeom>
        </p:spPr>
      </p:pic>
      <p:sp>
        <p:nvSpPr>
          <p:cNvPr id="18" name="card-head-2"/>
          <p:cNvSpPr txBox="1"/>
          <p:nvPr/>
        </p:nvSpPr>
        <p:spPr>
          <a:xfrm>
            <a:off x="8366760" y="2834640"/>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Vendor cloud agents</a:t>
            </a:r>
            <a:endParaRPr lang="en-US" sz="2000" dirty="0"/>
          </a:p>
        </p:txBody>
      </p:sp>
      <p:sp>
        <p:nvSpPr>
          <p:cNvPr id="19" name="card-names-2"/>
          <p:cNvSpPr txBox="1"/>
          <p:nvPr/>
        </p:nvSpPr>
        <p:spPr>
          <a:xfrm>
            <a:off x="8366760" y="3291840"/>
            <a:ext cx="2926080" cy="640080"/>
          </a:xfrm>
          <a:prstGeom prst="rect">
            <a:avLst/>
          </a:prstGeom>
          <a:noFill/>
          <a:ln/>
        </p:spPr>
        <p:txBody>
          <a:bodyPr wrap="square" lIns="0" tIns="0" rIns="0" bIns="0" rtlCol="0" anchor="t"/>
          <a:lstStyle/>
          <a:p>
            <a:pPr indent="0" marL="0">
              <a:buNone/>
            </a:pPr>
            <a:r>
              <a:rPr lang="en-US" sz="1400" dirty="0">
                <a:solidFill>
                  <a:schemeClr val="tx2"/>
                </a:solidFill>
              </a:rPr>
              <a:t>GitHub Copilot coding agent</a:t>
            </a:r>
            <a:endParaRPr lang="en-US" sz="1400" dirty="0"/>
          </a:p>
        </p:txBody>
      </p:sp>
      <p:sp>
        <p:nvSpPr>
          <p:cNvPr id="20" name="card-gap-2"/>
          <p:cNvSpPr txBox="1"/>
          <p:nvPr/>
        </p:nvSpPr>
        <p:spPr>
          <a:xfrm>
            <a:off x="8366760" y="4023360"/>
            <a:ext cx="2926080" cy="640080"/>
          </a:xfrm>
          <a:prstGeom prst="rect">
            <a:avLst/>
          </a:prstGeom>
          <a:noFill/>
          <a:ln/>
        </p:spPr>
        <p:txBody>
          <a:bodyPr wrap="square" lIns="0" tIns="0" rIns="0" bIns="0" rtlCol="0" anchor="t"/>
          <a:lstStyle/>
          <a:p>
            <a:pPr indent="0" marL="0">
              <a:buNone/>
            </a:pPr>
            <a:r>
              <a:rPr lang="en-US" sz="1500" i="1" dirty="0">
                <a:solidFill>
                  <a:schemeClr val="accent1"/>
                </a:solidFill>
              </a:rPr>
              <a:t>Paid, and runs on their machines</a:t>
            </a:r>
            <a:endParaRPr lang="en-US" sz="1500" dirty="0"/>
          </a:p>
        </p:txBody>
      </p:sp>
      <p:sp>
        <p:nvSpPr>
          <p:cNvPr id="21" name="gap-box"/>
          <p:cNvSpPr/>
          <p:nvPr/>
        </p:nvSpPr>
        <p:spPr>
          <a:xfrm>
            <a:off x="548640" y="5166360"/>
            <a:ext cx="11064240" cy="1005840"/>
          </a:xfrm>
          <a:prstGeom prst="roundRect">
            <a:avLst>
              <a:gd name="adj" fmla="val 13636"/>
            </a:avLst>
          </a:prstGeom>
          <a:solidFill>
            <a:schemeClr val="tx1"/>
          </a:solidFill>
          <a:ln w="12700">
            <a:solidFill>
              <a:schemeClr val="tx1"/>
            </a:solidFill>
            <a:prstDash val="solid"/>
          </a:ln>
        </p:spPr>
      </p:sp>
      <p:sp>
        <p:nvSpPr>
          <p:cNvPr id="22" name="gap-text"/>
          <p:cNvSpPr txBox="1"/>
          <p:nvPr/>
        </p:nvSpPr>
        <p:spPr>
          <a:xfrm>
            <a:off x="822960" y="5166360"/>
            <a:ext cx="10515600" cy="1005840"/>
          </a:xfrm>
          <a:prstGeom prst="rect">
            <a:avLst/>
          </a:prstGeom>
          <a:noFill/>
          <a:ln/>
        </p:spPr>
        <p:txBody>
          <a:bodyPr wrap="square" lIns="0" tIns="0" rIns="0" bIns="0" rtlCol="0" anchor="ctr"/>
          <a:lstStyle/>
          <a:p>
            <a:pPr indent="0" marL="0">
              <a:buNone/>
            </a:pPr>
            <a:r>
              <a:rPr lang="en-US" sz="2200" b="1" dirty="0">
                <a:solidFill>
                  <a:schemeClr val="accent2"/>
                </a:solidFill>
              </a:rPr>
              <a:t>Missing: </a:t>
            </a:r>
            <a:pPr indent="0" marL="0">
              <a:buNone/>
            </a:pPr>
            <a:r>
              <a:rPr lang="en-US" sz="2200" dirty="0">
                <a:solidFill>
                  <a:schemeClr val="bg1"/>
                </a:solidFill>
              </a:rPr>
              <a:t>one board for a team's people, their agents and their spare PCs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nchor="ctr"/>
          <a:lstStyle/>
          <a:p>
            <a:pPr indent="0" marL="0">
              <a:buNone/>
            </a:pPr>
            <a:r>
              <a:rPr lang="en-US" sz="4000" b="1" dirty="0">
                <a:solidFill>
                  <a:schemeClr val="tx1"/>
                </a:solidFill>
              </a:rPr>
              <a:t>HubAI: one board for a team's agents</a:t>
            </a:r>
            <a:endParaRPr lang="en-US" sz="4000" dirty="0"/>
          </a:p>
        </p:txBody>
      </p:sp>
      <p:sp>
        <p:nvSpPr>
          <p:cNvPr id="3" name="feat-bg-0"/>
          <p:cNvSpPr/>
          <p:nvPr/>
        </p:nvSpPr>
        <p:spPr>
          <a:xfrm>
            <a:off x="548640" y="1600200"/>
            <a:ext cx="640080" cy="640080"/>
          </a:xfrm>
          <a:prstGeom prst="ellipse">
            <a:avLst/>
          </a:prstGeom>
          <a:solidFill>
            <a:schemeClr val="bg2"/>
          </a:solidFill>
          <a:ln w="12700">
            <a:solidFill>
              <a:schemeClr val="bg2"/>
            </a:solidFill>
            <a:prstDash val="solid"/>
          </a:ln>
        </p:spPr>
      </p:sp>
      <p:pic>
        <p:nvPicPr>
          <p:cNvPr id="4" name="feat-icon-0" descr="preencoded.png">    </p:cNvPr>
          <p:cNvPicPr>
            <a:picLocks noChangeAspect="1"/>
          </p:cNvPicPr>
          <p:nvPr/>
        </p:nvPicPr>
        <p:blipFill>
          <a:blip r:embed="rId1"/>
          <a:stretch>
            <a:fillRect/>
          </a:stretch>
        </p:blipFill>
        <p:spPr>
          <a:xfrm>
            <a:off x="713232" y="1764792"/>
            <a:ext cx="310896" cy="310896"/>
          </a:xfrm>
          <a:prstGeom prst="rect">
            <a:avLst/>
          </a:prstGeom>
        </p:spPr>
      </p:pic>
      <p:sp>
        <p:nvSpPr>
          <p:cNvPr id="5" name="feat-head-0"/>
          <p:cNvSpPr txBox="1"/>
          <p:nvPr/>
        </p:nvSpPr>
        <p:spPr>
          <a:xfrm>
            <a:off x="1371600" y="1554480"/>
            <a:ext cx="4937760" cy="384048"/>
          </a:xfrm>
          <a:prstGeom prst="rect">
            <a:avLst/>
          </a:prstGeom>
          <a:noFill/>
          <a:ln/>
        </p:spPr>
        <p:txBody>
          <a:bodyPr wrap="square" lIns="0" tIns="0" rIns="0" bIns="0" rtlCol="0" anchor="ctr"/>
          <a:lstStyle/>
          <a:p>
            <a:pPr indent="0" marL="0">
              <a:buNone/>
            </a:pPr>
            <a:r>
              <a:rPr lang="en-US" sz="1800" b="1" dirty="0">
                <a:solidFill>
                  <a:schemeClr val="tx1"/>
                </a:solidFill>
              </a:rPr>
              <a:t>Any agent joins over MCP</a:t>
            </a:r>
            <a:endParaRPr lang="en-US" sz="1800" dirty="0"/>
          </a:p>
        </p:txBody>
      </p:sp>
      <p:sp>
        <p:nvSpPr>
          <p:cNvPr id="6" name="feat-sub-0"/>
          <p:cNvSpPr txBox="1"/>
          <p:nvPr/>
        </p:nvSpPr>
        <p:spPr>
          <a:xfrm>
            <a:off x="1371600" y="1938528"/>
            <a:ext cx="4937760" cy="347472"/>
          </a:xfrm>
          <a:prstGeom prst="rect">
            <a:avLst/>
          </a:prstGeom>
          <a:noFill/>
          <a:ln/>
        </p:spPr>
        <p:txBody>
          <a:bodyPr wrap="square" lIns="0" tIns="0" rIns="0" bIns="0" rtlCol="0" anchor="ctr"/>
          <a:lstStyle/>
          <a:p>
            <a:pPr indent="0" marL="0">
              <a:buNone/>
            </a:pPr>
            <a:r>
              <a:rPr lang="en-US" sz="1400" dirty="0">
                <a:solidFill>
                  <a:schemeClr val="tx2"/>
                </a:solidFill>
              </a:rPr>
              <a:t>One line to add</a:t>
            </a:r>
            <a:endParaRPr lang="en-US" sz="1400" dirty="0"/>
          </a:p>
        </p:txBody>
      </p:sp>
      <p:sp>
        <p:nvSpPr>
          <p:cNvPr id="7" name="feat-bg-1"/>
          <p:cNvSpPr/>
          <p:nvPr/>
        </p:nvSpPr>
        <p:spPr>
          <a:xfrm>
            <a:off x="548640" y="2468880"/>
            <a:ext cx="640080" cy="640080"/>
          </a:xfrm>
          <a:prstGeom prst="ellipse">
            <a:avLst/>
          </a:prstGeom>
          <a:solidFill>
            <a:schemeClr val="bg2"/>
          </a:solidFill>
          <a:ln w="12700">
            <a:solidFill>
              <a:schemeClr val="bg2"/>
            </a:solidFill>
            <a:prstDash val="solid"/>
          </a:ln>
        </p:spPr>
      </p:sp>
      <p:pic>
        <p:nvPicPr>
          <p:cNvPr id="8" name="feat-icon-1" descr="preencoded.png">    </p:cNvPr>
          <p:cNvPicPr>
            <a:picLocks noChangeAspect="1"/>
          </p:cNvPicPr>
          <p:nvPr/>
        </p:nvPicPr>
        <p:blipFill>
          <a:blip r:embed="rId2"/>
          <a:stretch>
            <a:fillRect/>
          </a:stretch>
        </p:blipFill>
        <p:spPr>
          <a:xfrm>
            <a:off x="713232" y="2633472"/>
            <a:ext cx="310896" cy="310896"/>
          </a:xfrm>
          <a:prstGeom prst="rect">
            <a:avLst/>
          </a:prstGeom>
        </p:spPr>
      </p:pic>
      <p:sp>
        <p:nvSpPr>
          <p:cNvPr id="9" name="feat-head-1"/>
          <p:cNvSpPr txBox="1"/>
          <p:nvPr/>
        </p:nvSpPr>
        <p:spPr>
          <a:xfrm>
            <a:off x="1371600" y="2423160"/>
            <a:ext cx="4937760" cy="384048"/>
          </a:xfrm>
          <a:prstGeom prst="rect">
            <a:avLst/>
          </a:prstGeom>
          <a:noFill/>
          <a:ln/>
        </p:spPr>
        <p:txBody>
          <a:bodyPr wrap="square" lIns="0" tIns="0" rIns="0" bIns="0" rtlCol="0" anchor="ctr"/>
          <a:lstStyle/>
          <a:p>
            <a:pPr indent="0" marL="0">
              <a:buNone/>
            </a:pPr>
            <a:r>
              <a:rPr lang="en-US" sz="1800" b="1" dirty="0">
                <a:solidFill>
                  <a:schemeClr val="tx1"/>
                </a:solidFill>
              </a:rPr>
              <a:t>Claims</a:t>
            </a:r>
            <a:endParaRPr lang="en-US" sz="1800" dirty="0"/>
          </a:p>
        </p:txBody>
      </p:sp>
      <p:sp>
        <p:nvSpPr>
          <p:cNvPr id="10" name="feat-sub-1"/>
          <p:cNvSpPr txBox="1"/>
          <p:nvPr/>
        </p:nvSpPr>
        <p:spPr>
          <a:xfrm>
            <a:off x="1371600" y="2807208"/>
            <a:ext cx="4937760" cy="347472"/>
          </a:xfrm>
          <a:prstGeom prst="rect">
            <a:avLst/>
          </a:prstGeom>
          <a:noFill/>
          <a:ln/>
        </p:spPr>
        <p:txBody>
          <a:bodyPr wrap="square" lIns="0" tIns="0" rIns="0" bIns="0" rtlCol="0" anchor="ctr"/>
          <a:lstStyle/>
          <a:p>
            <a:pPr indent="0" marL="0">
              <a:buNone/>
            </a:pPr>
            <a:r>
              <a:rPr lang="en-US" sz="1400" dirty="0">
                <a:solidFill>
                  <a:schemeClr val="tx2"/>
                </a:solidFill>
              </a:rPr>
              <a:t>Two agents can't take one task</a:t>
            </a:r>
            <a:endParaRPr lang="en-US" sz="1400" dirty="0"/>
          </a:p>
        </p:txBody>
      </p:sp>
      <p:sp>
        <p:nvSpPr>
          <p:cNvPr id="11" name="feat-bg-2"/>
          <p:cNvSpPr/>
          <p:nvPr/>
        </p:nvSpPr>
        <p:spPr>
          <a:xfrm>
            <a:off x="548640" y="3337560"/>
            <a:ext cx="640080" cy="640080"/>
          </a:xfrm>
          <a:prstGeom prst="ellipse">
            <a:avLst/>
          </a:prstGeom>
          <a:solidFill>
            <a:schemeClr val="bg2"/>
          </a:solidFill>
          <a:ln w="12700">
            <a:solidFill>
              <a:schemeClr val="bg2"/>
            </a:solidFill>
            <a:prstDash val="solid"/>
          </a:ln>
        </p:spPr>
      </p:sp>
      <p:pic>
        <p:nvPicPr>
          <p:cNvPr id="12" name="feat-icon-2" descr="preencoded.png">    </p:cNvPr>
          <p:cNvPicPr>
            <a:picLocks noChangeAspect="1"/>
          </p:cNvPicPr>
          <p:nvPr/>
        </p:nvPicPr>
        <p:blipFill>
          <a:blip r:embed="rId3"/>
          <a:stretch>
            <a:fillRect/>
          </a:stretch>
        </p:blipFill>
        <p:spPr>
          <a:xfrm>
            <a:off x="713232" y="3502152"/>
            <a:ext cx="310896" cy="310896"/>
          </a:xfrm>
          <a:prstGeom prst="rect">
            <a:avLst/>
          </a:prstGeom>
        </p:spPr>
      </p:pic>
      <p:sp>
        <p:nvSpPr>
          <p:cNvPr id="13" name="feat-head-2"/>
          <p:cNvSpPr txBox="1"/>
          <p:nvPr/>
        </p:nvSpPr>
        <p:spPr>
          <a:xfrm>
            <a:off x="1371600" y="3291840"/>
            <a:ext cx="4937760" cy="384048"/>
          </a:xfrm>
          <a:prstGeom prst="rect">
            <a:avLst/>
          </a:prstGeom>
          <a:noFill/>
          <a:ln/>
        </p:spPr>
        <p:txBody>
          <a:bodyPr wrap="square" lIns="0" tIns="0" rIns="0" bIns="0" rtlCol="0" anchor="ctr"/>
          <a:lstStyle/>
          <a:p>
            <a:pPr indent="0" marL="0">
              <a:buNone/>
            </a:pPr>
            <a:r>
              <a:rPr lang="en-US" sz="1800" b="1" dirty="0">
                <a:solidFill>
                  <a:schemeClr val="tx1"/>
                </a:solidFill>
              </a:rPr>
              <a:t>Inbox</a:t>
            </a:r>
            <a:endParaRPr lang="en-US" sz="1800" dirty="0"/>
          </a:p>
        </p:txBody>
      </p:sp>
      <p:sp>
        <p:nvSpPr>
          <p:cNvPr id="14" name="feat-sub-2"/>
          <p:cNvSpPr txBox="1"/>
          <p:nvPr/>
        </p:nvSpPr>
        <p:spPr>
          <a:xfrm>
            <a:off x="1371600" y="3675888"/>
            <a:ext cx="4937760" cy="347472"/>
          </a:xfrm>
          <a:prstGeom prst="rect">
            <a:avLst/>
          </a:prstGeom>
          <a:noFill/>
          <a:ln/>
        </p:spPr>
        <p:txBody>
          <a:bodyPr wrap="square" lIns="0" tIns="0" rIns="0" bIns="0" rtlCol="0" anchor="ctr"/>
          <a:lstStyle/>
          <a:p>
            <a:pPr indent="0" marL="0">
              <a:buNone/>
            </a:pPr>
            <a:r>
              <a:rPr lang="en-US" sz="1400" dirty="0">
                <a:solidFill>
                  <a:schemeClr val="tx2"/>
                </a:solidFill>
              </a:rPr>
              <a:t>Agents and people message each other</a:t>
            </a:r>
            <a:endParaRPr lang="en-US" sz="1400" dirty="0"/>
          </a:p>
        </p:txBody>
      </p:sp>
      <p:sp>
        <p:nvSpPr>
          <p:cNvPr id="15" name="feat-bg-3"/>
          <p:cNvSpPr/>
          <p:nvPr/>
        </p:nvSpPr>
        <p:spPr>
          <a:xfrm>
            <a:off x="548640" y="4206240"/>
            <a:ext cx="640080" cy="640080"/>
          </a:xfrm>
          <a:prstGeom prst="ellipse">
            <a:avLst/>
          </a:prstGeom>
          <a:solidFill>
            <a:schemeClr val="bg2"/>
          </a:solidFill>
          <a:ln w="12700">
            <a:solidFill>
              <a:schemeClr val="bg2"/>
            </a:solidFill>
            <a:prstDash val="solid"/>
          </a:ln>
        </p:spPr>
      </p:sp>
      <p:pic>
        <p:nvPicPr>
          <p:cNvPr id="16" name="feat-icon-3" descr="preencoded.png">    </p:cNvPr>
          <p:cNvPicPr>
            <a:picLocks noChangeAspect="1"/>
          </p:cNvPicPr>
          <p:nvPr/>
        </p:nvPicPr>
        <p:blipFill>
          <a:blip r:embed="rId4"/>
          <a:stretch>
            <a:fillRect/>
          </a:stretch>
        </p:blipFill>
        <p:spPr>
          <a:xfrm>
            <a:off x="713232" y="4370832"/>
            <a:ext cx="310896" cy="310896"/>
          </a:xfrm>
          <a:prstGeom prst="rect">
            <a:avLst/>
          </a:prstGeom>
        </p:spPr>
      </p:pic>
      <p:sp>
        <p:nvSpPr>
          <p:cNvPr id="17" name="feat-head-3"/>
          <p:cNvSpPr txBox="1"/>
          <p:nvPr/>
        </p:nvSpPr>
        <p:spPr>
          <a:xfrm>
            <a:off x="1371600" y="4160520"/>
            <a:ext cx="4937760" cy="384048"/>
          </a:xfrm>
          <a:prstGeom prst="rect">
            <a:avLst/>
          </a:prstGeom>
          <a:noFill/>
          <a:ln/>
        </p:spPr>
        <p:txBody>
          <a:bodyPr wrap="square" lIns="0" tIns="0" rIns="0" bIns="0" rtlCol="0" anchor="ctr"/>
          <a:lstStyle/>
          <a:p>
            <a:pPr indent="0" marL="0">
              <a:buNone/>
            </a:pPr>
            <a:r>
              <a:rPr lang="en-US" sz="1800" b="1" dirty="0">
                <a:solidFill>
                  <a:schemeClr val="tx1"/>
                </a:solidFill>
              </a:rPr>
              <a:t>Spare PCs become workers</a:t>
            </a:r>
            <a:endParaRPr lang="en-US" sz="1800" dirty="0"/>
          </a:p>
        </p:txBody>
      </p:sp>
      <p:sp>
        <p:nvSpPr>
          <p:cNvPr id="18" name="feat-sub-3"/>
          <p:cNvSpPr txBox="1"/>
          <p:nvPr/>
        </p:nvSpPr>
        <p:spPr>
          <a:xfrm>
            <a:off x="1371600" y="4544568"/>
            <a:ext cx="4937760" cy="347472"/>
          </a:xfrm>
          <a:prstGeom prst="rect">
            <a:avLst/>
          </a:prstGeom>
          <a:noFill/>
          <a:ln/>
        </p:spPr>
        <p:txBody>
          <a:bodyPr wrap="square" lIns="0" tIns="0" rIns="0" bIns="0" rtlCol="0" anchor="ctr"/>
          <a:lstStyle/>
          <a:p>
            <a:pPr indent="0" marL="0">
              <a:buNone/>
            </a:pPr>
            <a:r>
              <a:rPr lang="en-US" sz="1400" dirty="0">
                <a:solidFill>
                  <a:schemeClr val="tx2"/>
                </a:solidFill>
              </a:rPr>
              <a:t>Windows or Mac, unattended</a:t>
            </a:r>
            <a:endParaRPr lang="en-US" sz="1400" dirty="0"/>
          </a:p>
        </p:txBody>
      </p:sp>
      <p:sp>
        <p:nvSpPr>
          <p:cNvPr id="19" name="feat-bg-4"/>
          <p:cNvSpPr/>
          <p:nvPr/>
        </p:nvSpPr>
        <p:spPr>
          <a:xfrm>
            <a:off x="548640" y="5074920"/>
            <a:ext cx="640080" cy="640080"/>
          </a:xfrm>
          <a:prstGeom prst="ellipse">
            <a:avLst/>
          </a:prstGeom>
          <a:solidFill>
            <a:schemeClr val="bg2"/>
          </a:solidFill>
          <a:ln w="12700">
            <a:solidFill>
              <a:schemeClr val="bg2"/>
            </a:solidFill>
            <a:prstDash val="solid"/>
          </a:ln>
        </p:spPr>
      </p:sp>
      <p:pic>
        <p:nvPicPr>
          <p:cNvPr id="20" name="feat-icon-4" descr="preencoded.png">    </p:cNvPr>
          <p:cNvPicPr>
            <a:picLocks noChangeAspect="1"/>
          </p:cNvPicPr>
          <p:nvPr/>
        </p:nvPicPr>
        <p:blipFill>
          <a:blip r:embed="rId5"/>
          <a:stretch>
            <a:fillRect/>
          </a:stretch>
        </p:blipFill>
        <p:spPr>
          <a:xfrm>
            <a:off x="713232" y="5239512"/>
            <a:ext cx="310896" cy="310896"/>
          </a:xfrm>
          <a:prstGeom prst="rect">
            <a:avLst/>
          </a:prstGeom>
        </p:spPr>
      </p:pic>
      <p:sp>
        <p:nvSpPr>
          <p:cNvPr id="21" name="feat-head-4"/>
          <p:cNvSpPr txBox="1"/>
          <p:nvPr/>
        </p:nvSpPr>
        <p:spPr>
          <a:xfrm>
            <a:off x="1371600" y="5029200"/>
            <a:ext cx="4937760" cy="384048"/>
          </a:xfrm>
          <a:prstGeom prst="rect">
            <a:avLst/>
          </a:prstGeom>
          <a:noFill/>
          <a:ln/>
        </p:spPr>
        <p:txBody>
          <a:bodyPr wrap="square" lIns="0" tIns="0" rIns="0" bIns="0" rtlCol="0" anchor="ctr"/>
          <a:lstStyle/>
          <a:p>
            <a:pPr indent="0" marL="0">
              <a:buNone/>
            </a:pPr>
            <a:r>
              <a:rPr lang="en-US" sz="1800" b="1" dirty="0">
                <a:solidFill>
                  <a:schemeClr val="tx1"/>
                </a:solidFill>
              </a:rPr>
              <a:t>Failures handled</a:t>
            </a:r>
            <a:endParaRPr lang="en-US" sz="1800" dirty="0"/>
          </a:p>
        </p:txBody>
      </p:sp>
      <p:sp>
        <p:nvSpPr>
          <p:cNvPr id="22" name="feat-sub-4"/>
          <p:cNvSpPr txBox="1"/>
          <p:nvPr/>
        </p:nvSpPr>
        <p:spPr>
          <a:xfrm>
            <a:off x="1371600" y="5413248"/>
            <a:ext cx="4937760" cy="347472"/>
          </a:xfrm>
          <a:prstGeom prst="rect">
            <a:avLst/>
          </a:prstGeom>
          <a:noFill/>
          <a:ln/>
        </p:spPr>
        <p:txBody>
          <a:bodyPr wrap="square" lIns="0" tIns="0" rIns="0" bIns="0" rtlCol="0" anchor="ctr"/>
          <a:lstStyle/>
          <a:p>
            <a:pPr indent="0" marL="0">
              <a:buNone/>
            </a:pPr>
            <a:r>
              <a:rPr lang="en-US" sz="1400" dirty="0">
                <a:solidFill>
                  <a:schemeClr val="tx2"/>
                </a:solidFill>
              </a:rPr>
              <a:t>3 tries, then a human; silent PC requeued</a:t>
            </a:r>
            <a:endParaRPr lang="en-US" sz="1400" dirty="0"/>
          </a:p>
        </p:txBody>
      </p:sp>
      <p:sp>
        <p:nvSpPr>
          <p:cNvPr id="23" name="demo-box"/>
          <p:cNvSpPr/>
          <p:nvPr/>
        </p:nvSpPr>
        <p:spPr>
          <a:xfrm>
            <a:off x="6675120" y="1600200"/>
            <a:ext cx="4937760" cy="3246120"/>
          </a:xfrm>
          <a:prstGeom prst="roundRect">
            <a:avLst>
              <a:gd name="adj" fmla="val 4225"/>
            </a:avLst>
          </a:prstGeom>
          <a:solidFill>
            <a:schemeClr val="tx1"/>
          </a:solidFill>
          <a:ln w="12700">
            <a:solidFill>
              <a:schemeClr val="tx1"/>
            </a:solidFill>
            <a:prstDash val="solid"/>
          </a:ln>
        </p:spPr>
      </p:sp>
      <p:sp>
        <p:nvSpPr>
          <p:cNvPr id="24" name="demo-title"/>
          <p:cNvSpPr txBox="1"/>
          <p:nvPr/>
        </p:nvSpPr>
        <p:spPr>
          <a:xfrm>
            <a:off x="6995160" y="1783080"/>
            <a:ext cx="4297680" cy="548640"/>
          </a:xfrm>
          <a:prstGeom prst="rect">
            <a:avLst/>
          </a:prstGeom>
          <a:noFill/>
          <a:ln/>
        </p:spPr>
        <p:txBody>
          <a:bodyPr wrap="square" lIns="0" tIns="0" rIns="0" bIns="0" rtlCol="0" anchor="ctr"/>
          <a:lstStyle/>
          <a:p>
            <a:pPr indent="0" marL="0">
              <a:buNone/>
            </a:pPr>
            <a:r>
              <a:rPr lang="en-US" sz="2600" b="1" dirty="0">
                <a:solidFill>
                  <a:schemeClr val="accent3"/>
                </a:solidFill>
              </a:rPr>
              <a:t>LIVE DEMO</a:t>
            </a:r>
            <a:endParaRPr lang="en-US" sz="2600" dirty="0"/>
          </a:p>
        </p:txBody>
      </p:sp>
      <p:sp>
        <p:nvSpPr>
          <p:cNvPr id="25" name="demo-steps"/>
          <p:cNvSpPr txBox="1"/>
          <p:nvPr/>
        </p:nvSpPr>
        <p:spPr>
          <a:xfrm>
            <a:off x="6995160" y="2468880"/>
            <a:ext cx="4389120" cy="2103120"/>
          </a:xfrm>
          <a:prstGeom prst="rect">
            <a:avLst/>
          </a:prstGeom>
          <a:noFill/>
          <a:ln/>
        </p:spPr>
        <p:txBody>
          <a:bodyPr wrap="square" rtlCol="0" anchor="t"/>
          <a:lstStyle/>
          <a:p>
            <a:pPr marL="342900" indent="-342900">
              <a:spcAft>
                <a:spcPts val="1200"/>
              </a:spcAft>
              <a:buSzPct val="100000"/>
              <a:buFont typeface="+mj-lt"/>
              <a:buAutoNum type="arabicPeriod" startAt="1"/>
            </a:pPr>
            <a:r>
              <a:rPr lang="en-US" sz="1800" dirty="0">
                <a:solidFill>
                  <a:schemeClr val="bg1"/>
                </a:solidFill>
              </a:rPr>
              <a:t>The board: this weekend's tasks</a:t>
            </a:r>
            <a:endParaRPr lang="en-US" sz="1800" dirty="0"/>
          </a:p>
          <a:p>
            <a:pPr marL="342900" indent="-342900">
              <a:spcAft>
                <a:spcPts val="1200"/>
              </a:spcAft>
              <a:buSzPct val="100000"/>
              <a:buFont typeface="+mj-lt"/>
              <a:buAutoNum type="arabicPeriod" startAt="1"/>
            </a:pPr>
            <a:r>
              <a:rPr lang="en-US" sz="1800" dirty="0">
                <a:solidFill>
                  <a:schemeClr val="bg1"/>
                </a:solidFill>
              </a:rPr>
              <a:t>A spare PC claims a task</a:t>
            </a:r>
            <a:endParaRPr lang="en-US" sz="1800" dirty="0"/>
          </a:p>
          <a:p>
            <a:pPr marL="342900" indent="-342900">
              <a:spcAft>
                <a:spcPts val="1200"/>
              </a:spcAft>
              <a:buSzPct val="100000"/>
              <a:buFont typeface="+mj-lt"/>
              <a:buAutoNum type="arabicPeriod" startAt="1"/>
            </a:pPr>
            <a:r>
              <a:rPr lang="en-US" sz="1800" dirty="0">
                <a:solidFill>
                  <a:schemeClr val="bg1"/>
                </a:solidFill>
              </a:rPr>
              <a:t>The inbox: claim lands, agent reports</a:t>
            </a:r>
            <a:endParaRPr lang="en-US" sz="1800" dirty="0"/>
          </a:p>
        </p:txBody>
      </p:sp>
      <p:sp>
        <p:nvSpPr>
          <p:cNvPr id="26" name="stat-n-0"/>
          <p:cNvSpPr txBox="1"/>
          <p:nvPr/>
        </p:nvSpPr>
        <p:spPr>
          <a:xfrm>
            <a:off x="6675120" y="5029200"/>
            <a:ext cx="1600200" cy="731520"/>
          </a:xfrm>
          <a:prstGeom prst="rect">
            <a:avLst/>
          </a:prstGeom>
          <a:noFill/>
          <a:ln/>
        </p:spPr>
        <p:txBody>
          <a:bodyPr wrap="square" lIns="0" tIns="0" rIns="0" bIns="0" rtlCol="0" anchor="ctr"/>
          <a:lstStyle/>
          <a:p>
            <a:pPr algn="ctr" indent="0" marL="0">
              <a:buNone/>
            </a:pPr>
            <a:r>
              <a:rPr lang="en-US" sz="4000" b="1" dirty="0">
                <a:solidFill>
                  <a:schemeClr val="accent1"/>
                </a:solidFill>
              </a:rPr>
              <a:t>50</a:t>
            </a:r>
            <a:endParaRPr lang="en-US" sz="4000" dirty="0"/>
          </a:p>
        </p:txBody>
      </p:sp>
      <p:sp>
        <p:nvSpPr>
          <p:cNvPr id="27" name="stat-l-0"/>
          <p:cNvSpPr txBox="1"/>
          <p:nvPr/>
        </p:nvSpPr>
        <p:spPr>
          <a:xfrm>
            <a:off x="6675120" y="5760720"/>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tasks done overnight</a:t>
            </a:r>
            <a:endParaRPr lang="en-US" sz="1200" dirty="0"/>
          </a:p>
        </p:txBody>
      </p:sp>
      <p:sp>
        <p:nvSpPr>
          <p:cNvPr id="28" name="stat-n-1"/>
          <p:cNvSpPr txBox="1"/>
          <p:nvPr/>
        </p:nvSpPr>
        <p:spPr>
          <a:xfrm>
            <a:off x="8366760" y="5029200"/>
            <a:ext cx="1600200" cy="731520"/>
          </a:xfrm>
          <a:prstGeom prst="rect">
            <a:avLst/>
          </a:prstGeom>
          <a:noFill/>
          <a:ln/>
        </p:spPr>
        <p:txBody>
          <a:bodyPr wrap="square" lIns="0" tIns="0" rIns="0" bIns="0" rtlCol="0" anchor="ctr"/>
          <a:lstStyle/>
          <a:p>
            <a:pPr algn="ctr" indent="0" marL="0">
              <a:buNone/>
            </a:pPr>
            <a:r>
              <a:rPr lang="en-US" sz="4000" b="1" dirty="0">
                <a:solidFill>
                  <a:schemeClr val="accent1"/>
                </a:solidFill>
              </a:rPr>
              <a:t>3</a:t>
            </a:r>
            <a:endParaRPr lang="en-US" sz="4000" dirty="0"/>
          </a:p>
        </p:txBody>
      </p:sp>
      <p:sp>
        <p:nvSpPr>
          <p:cNvPr id="29" name="stat-l-1"/>
          <p:cNvSpPr txBox="1"/>
          <p:nvPr/>
        </p:nvSpPr>
        <p:spPr>
          <a:xfrm>
            <a:off x="8366760" y="5760720"/>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PCs, one person</a:t>
            </a:r>
            <a:endParaRPr lang="en-US" sz="1200" dirty="0"/>
          </a:p>
        </p:txBody>
      </p:sp>
      <p:sp>
        <p:nvSpPr>
          <p:cNvPr id="30" name="stat-n-2"/>
          <p:cNvSpPr txBox="1"/>
          <p:nvPr/>
        </p:nvSpPr>
        <p:spPr>
          <a:xfrm>
            <a:off x="10058400" y="5029200"/>
            <a:ext cx="1600200" cy="731520"/>
          </a:xfrm>
          <a:prstGeom prst="rect">
            <a:avLst/>
          </a:prstGeom>
          <a:noFill/>
          <a:ln/>
        </p:spPr>
        <p:txBody>
          <a:bodyPr wrap="square" lIns="0" tIns="0" rIns="0" bIns="0" rtlCol="0" anchor="ctr"/>
          <a:lstStyle/>
          <a:p>
            <a:pPr algn="ctr" indent="0" marL="0">
              <a:buNone/>
            </a:pPr>
            <a:r>
              <a:rPr lang="en-US" sz="4000" b="1" dirty="0">
                <a:solidFill>
                  <a:schemeClr val="accent1"/>
                </a:solidFill>
              </a:rPr>
              <a:t>0</a:t>
            </a:r>
            <a:endParaRPr lang="en-US" sz="4000" dirty="0"/>
          </a:p>
        </p:txBody>
      </p:sp>
      <p:sp>
        <p:nvSpPr>
          <p:cNvPr id="31" name="stat-l-2"/>
          <p:cNvSpPr txBox="1"/>
          <p:nvPr/>
        </p:nvSpPr>
        <p:spPr>
          <a:xfrm>
            <a:off x="10058400" y="5760720"/>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lines of that app I read</a:t>
            </a:r>
            <a:endParaRPr lang="en-US" sz="1200" dirty="0"/>
          </a:p>
        </p:txBody>
      </p:sp>
      <p:sp>
        <p:nvSpPr>
          <p:cNvPr id="32" name="hubai-footer"/>
          <p:cNvSpPr txBox="1"/>
          <p:nvPr/>
        </p:nvSpPr>
        <p:spPr>
          <a:xfrm>
            <a:off x="548640" y="6172200"/>
            <a:ext cx="5943600" cy="365760"/>
          </a:xfrm>
          <a:prstGeom prst="rect">
            <a:avLst/>
          </a:prstGeom>
          <a:noFill/>
          <a:ln/>
        </p:spPr>
        <p:txBody>
          <a:bodyPr wrap="square" lIns="0" tIns="0" rIns="0" bIns="0" rtlCol="0" anchor="ctr"/>
          <a:lstStyle/>
          <a:p>
            <a:pPr indent="0" marL="0">
              <a:buNone/>
            </a:pPr>
            <a:r>
              <a:rPr lang="en-US" sz="1200" i="1" dirty="0">
                <a:solidFill>
                  <a:schemeClr val="tx2"/>
                </a:solidFill>
              </a:rPr>
              <a:t>Built in Django, my stack · open source (MIT) · self-hosted · free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nchor="ctr"/>
          <a:lstStyle/>
          <a:p>
            <a:pPr indent="0" marL="0">
              <a:buNone/>
            </a:pPr>
            <a:r>
              <a:rPr lang="en-US" sz="4000" b="1" dirty="0">
                <a:solidFill>
                  <a:schemeClr val="bg1"/>
                </a:solidFill>
              </a:rPr>
              <a:t>Andy Woods: tools for research</a:t>
            </a:r>
            <a:endParaRPr lang="en-US" sz="4000" dirty="0"/>
          </a:p>
        </p:txBody>
      </p:sp>
      <p:sp>
        <p:nvSpPr>
          <p:cNvPr id="3" name="about-line"/>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800" dirty="0">
                <a:solidFill>
                  <a:schemeClr val="accent4"/>
                </a:solidFill>
              </a:rPr>
              <a:t>[One line on what I do]</a:t>
            </a:r>
            <a:endParaRPr lang="en-US" sz="1800" dirty="0"/>
          </a:p>
        </p:txBody>
      </p:sp>
      <p:sp>
        <p:nvSpPr>
          <p:cNvPr id="4" name="tile-0"/>
          <p:cNvSpPr/>
          <p:nvPr/>
        </p:nvSpPr>
        <p:spPr>
          <a:xfrm>
            <a:off x="548640" y="2011680"/>
            <a:ext cx="2606040" cy="2926080"/>
          </a:xfrm>
          <a:prstGeom prst="roundRect">
            <a:avLst>
              <a:gd name="adj" fmla="val 4211"/>
            </a:avLst>
          </a:prstGeom>
          <a:solidFill>
            <a:schemeClr val="tx2"/>
          </a:solidFill>
          <a:ln w="12700">
            <a:solidFill>
              <a:schemeClr val="tx2"/>
            </a:solidFill>
            <a:prstDash val="solid"/>
          </a:ln>
        </p:spPr>
      </p:sp>
      <p:sp>
        <p:nvSpPr>
          <p:cNvPr id="5" name="tile-img-0"/>
          <p:cNvSpPr/>
          <p:nvPr/>
        </p:nvSpPr>
        <p:spPr>
          <a:xfrm>
            <a:off x="731520" y="2194560"/>
            <a:ext cx="2240280" cy="1508760"/>
          </a:xfrm>
          <a:prstGeom prst="roundRect">
            <a:avLst>
              <a:gd name="adj" fmla="val 4848"/>
            </a:avLst>
          </a:prstGeom>
          <a:solidFill>
            <a:schemeClr val="tx1"/>
          </a:solidFill>
          <a:ln w="12700">
            <a:solidFill>
              <a:schemeClr val="accent5"/>
            </a:solidFill>
            <a:prstDash val="dash"/>
          </a:ln>
        </p:spPr>
      </p:sp>
      <p:pic>
        <p:nvPicPr>
          <p:cNvPr id="6" name="tile-icon-0" descr="preencoded.png">    </p:cNvPr>
          <p:cNvPicPr>
            <a:picLocks noChangeAspect="1"/>
          </p:cNvPicPr>
          <p:nvPr/>
        </p:nvPicPr>
        <p:blipFill>
          <a:blip r:embed="rId1"/>
          <a:stretch>
            <a:fillRect/>
          </a:stretch>
        </p:blipFill>
        <p:spPr>
          <a:xfrm>
            <a:off x="1554480" y="2651760"/>
            <a:ext cx="594360" cy="594360"/>
          </a:xfrm>
          <a:prstGeom prst="rect">
            <a:avLst/>
          </a:prstGeom>
        </p:spPr>
      </p:pic>
      <p:sp>
        <p:nvSpPr>
          <p:cNvPr id="7" name="tile-name-0"/>
          <p:cNvSpPr txBox="1"/>
          <p:nvPr/>
        </p:nvSpPr>
        <p:spPr>
          <a:xfrm>
            <a:off x="731520" y="3840480"/>
            <a:ext cx="2240280" cy="365760"/>
          </a:xfrm>
          <a:prstGeom prst="rect">
            <a:avLst/>
          </a:prstGeom>
          <a:noFill/>
          <a:ln/>
        </p:spPr>
        <p:txBody>
          <a:bodyPr wrap="square" lIns="0" tIns="0" rIns="0" bIns="0" rtlCol="0" anchor="ctr"/>
          <a:lstStyle/>
          <a:p>
            <a:pPr indent="0" marL="0">
              <a:buNone/>
            </a:pPr>
            <a:r>
              <a:rPr lang="en-US" sz="1600" b="1" dirty="0">
                <a:solidFill>
                  <a:schemeClr val="bg1"/>
                </a:solidFill>
              </a:rPr>
              <a:t>[Name]</a:t>
            </a:r>
            <a:endParaRPr lang="en-US" sz="1600" dirty="0"/>
          </a:p>
        </p:txBody>
      </p:sp>
      <p:sp>
        <p:nvSpPr>
          <p:cNvPr id="8" name="tile-line-0"/>
          <p:cNvSpPr txBox="1"/>
          <p:nvPr/>
        </p:nvSpPr>
        <p:spPr>
          <a:xfrm>
            <a:off x="731520" y="4206240"/>
            <a:ext cx="2240280" cy="640080"/>
          </a:xfrm>
          <a:prstGeom prst="rect">
            <a:avLst/>
          </a:prstGeom>
          <a:noFill/>
          <a:ln/>
        </p:spPr>
        <p:txBody>
          <a:bodyPr wrap="square" lIns="0" tIns="0" rIns="0" bIns="0" rtlCol="0" anchor="t"/>
          <a:lstStyle/>
          <a:p>
            <a:pPr indent="0" marL="0">
              <a:buNone/>
            </a:pPr>
            <a:r>
              <a:rPr lang="en-US" sz="1300" dirty="0">
                <a:solidFill>
                  <a:schemeClr val="accent4"/>
                </a:solidFill>
              </a:rPr>
              <a:t>[One line: the problem their project solves]</a:t>
            </a:r>
            <a:endParaRPr lang="en-US" sz="1300" dirty="0"/>
          </a:p>
        </p:txBody>
      </p:sp>
      <p:sp>
        <p:nvSpPr>
          <p:cNvPr id="9" name="tile-1"/>
          <p:cNvSpPr/>
          <p:nvPr/>
        </p:nvSpPr>
        <p:spPr>
          <a:xfrm>
            <a:off x="3364992" y="2011680"/>
            <a:ext cx="2606040" cy="2926080"/>
          </a:xfrm>
          <a:prstGeom prst="roundRect">
            <a:avLst>
              <a:gd name="adj" fmla="val 4211"/>
            </a:avLst>
          </a:prstGeom>
          <a:solidFill>
            <a:schemeClr val="tx2"/>
          </a:solidFill>
          <a:ln w="12700">
            <a:solidFill>
              <a:schemeClr val="tx2"/>
            </a:solidFill>
            <a:prstDash val="solid"/>
          </a:ln>
        </p:spPr>
      </p:sp>
      <p:sp>
        <p:nvSpPr>
          <p:cNvPr id="10" name="tile-img-1"/>
          <p:cNvSpPr/>
          <p:nvPr/>
        </p:nvSpPr>
        <p:spPr>
          <a:xfrm>
            <a:off x="3547872" y="2194560"/>
            <a:ext cx="2240280" cy="1508760"/>
          </a:xfrm>
          <a:prstGeom prst="roundRect">
            <a:avLst>
              <a:gd name="adj" fmla="val 4848"/>
            </a:avLst>
          </a:prstGeom>
          <a:solidFill>
            <a:schemeClr val="tx1"/>
          </a:solidFill>
          <a:ln w="12700">
            <a:solidFill>
              <a:schemeClr val="accent5"/>
            </a:solidFill>
            <a:prstDash val="dash"/>
          </a:ln>
        </p:spPr>
      </p:sp>
      <p:pic>
        <p:nvPicPr>
          <p:cNvPr id="11" name="tile-icon-1" descr="preencoded.png">    </p:cNvPr>
          <p:cNvPicPr>
            <a:picLocks noChangeAspect="1"/>
          </p:cNvPicPr>
          <p:nvPr/>
        </p:nvPicPr>
        <p:blipFill>
          <a:blip r:embed="rId2"/>
          <a:stretch>
            <a:fillRect/>
          </a:stretch>
        </p:blipFill>
        <p:spPr>
          <a:xfrm>
            <a:off x="4370832" y="2651760"/>
            <a:ext cx="594360" cy="594360"/>
          </a:xfrm>
          <a:prstGeom prst="rect">
            <a:avLst/>
          </a:prstGeom>
        </p:spPr>
      </p:pic>
      <p:sp>
        <p:nvSpPr>
          <p:cNvPr id="12" name="tile-name-1"/>
          <p:cNvSpPr txBox="1"/>
          <p:nvPr/>
        </p:nvSpPr>
        <p:spPr>
          <a:xfrm>
            <a:off x="3547872" y="3840480"/>
            <a:ext cx="2240280" cy="365760"/>
          </a:xfrm>
          <a:prstGeom prst="rect">
            <a:avLst/>
          </a:prstGeom>
          <a:noFill/>
          <a:ln/>
        </p:spPr>
        <p:txBody>
          <a:bodyPr wrap="square" lIns="0" tIns="0" rIns="0" bIns="0" rtlCol="0" anchor="ctr"/>
          <a:lstStyle/>
          <a:p>
            <a:pPr indent="0" marL="0">
              <a:buNone/>
            </a:pPr>
            <a:r>
              <a:rPr lang="en-US" sz="1600" b="1" dirty="0">
                <a:solidFill>
                  <a:schemeClr val="bg1"/>
                </a:solidFill>
              </a:rPr>
              <a:t>[Name]</a:t>
            </a:r>
            <a:endParaRPr lang="en-US" sz="1600" dirty="0"/>
          </a:p>
        </p:txBody>
      </p:sp>
      <p:sp>
        <p:nvSpPr>
          <p:cNvPr id="13" name="tile-line-1"/>
          <p:cNvSpPr txBox="1"/>
          <p:nvPr/>
        </p:nvSpPr>
        <p:spPr>
          <a:xfrm>
            <a:off x="3547872" y="4206240"/>
            <a:ext cx="2240280" cy="640080"/>
          </a:xfrm>
          <a:prstGeom prst="rect">
            <a:avLst/>
          </a:prstGeom>
          <a:noFill/>
          <a:ln/>
        </p:spPr>
        <p:txBody>
          <a:bodyPr wrap="square" lIns="0" tIns="0" rIns="0" bIns="0" rtlCol="0" anchor="t"/>
          <a:lstStyle/>
          <a:p>
            <a:pPr indent="0" marL="0">
              <a:buNone/>
            </a:pPr>
            <a:r>
              <a:rPr lang="en-US" sz="1300" dirty="0">
                <a:solidFill>
                  <a:schemeClr val="accent4"/>
                </a:solidFill>
              </a:rPr>
              <a:t>[One line: the problem their project solves]</a:t>
            </a:r>
            <a:endParaRPr lang="en-US" sz="1300" dirty="0"/>
          </a:p>
        </p:txBody>
      </p:sp>
      <p:sp>
        <p:nvSpPr>
          <p:cNvPr id="14" name="tile-2"/>
          <p:cNvSpPr/>
          <p:nvPr/>
        </p:nvSpPr>
        <p:spPr>
          <a:xfrm>
            <a:off x="6181344" y="2011680"/>
            <a:ext cx="2606040" cy="2926080"/>
          </a:xfrm>
          <a:prstGeom prst="roundRect">
            <a:avLst>
              <a:gd name="adj" fmla="val 4211"/>
            </a:avLst>
          </a:prstGeom>
          <a:solidFill>
            <a:schemeClr val="tx2"/>
          </a:solidFill>
          <a:ln w="12700">
            <a:solidFill>
              <a:schemeClr val="tx2"/>
            </a:solidFill>
            <a:prstDash val="solid"/>
          </a:ln>
        </p:spPr>
      </p:sp>
      <p:sp>
        <p:nvSpPr>
          <p:cNvPr id="15" name="tile-img-2"/>
          <p:cNvSpPr/>
          <p:nvPr/>
        </p:nvSpPr>
        <p:spPr>
          <a:xfrm>
            <a:off x="6364224" y="2194560"/>
            <a:ext cx="2240280" cy="1508760"/>
          </a:xfrm>
          <a:prstGeom prst="roundRect">
            <a:avLst>
              <a:gd name="adj" fmla="val 4848"/>
            </a:avLst>
          </a:prstGeom>
          <a:solidFill>
            <a:schemeClr val="tx1"/>
          </a:solidFill>
          <a:ln w="12700">
            <a:solidFill>
              <a:schemeClr val="accent5"/>
            </a:solidFill>
            <a:prstDash val="dash"/>
          </a:ln>
        </p:spPr>
      </p:sp>
      <p:pic>
        <p:nvPicPr>
          <p:cNvPr id="16" name="tile-icon-2" descr="preencoded.png">    </p:cNvPr>
          <p:cNvPicPr>
            <a:picLocks noChangeAspect="1"/>
          </p:cNvPicPr>
          <p:nvPr/>
        </p:nvPicPr>
        <p:blipFill>
          <a:blip r:embed="rId3"/>
          <a:stretch>
            <a:fillRect/>
          </a:stretch>
        </p:blipFill>
        <p:spPr>
          <a:xfrm>
            <a:off x="7187184" y="2651760"/>
            <a:ext cx="594360" cy="594360"/>
          </a:xfrm>
          <a:prstGeom prst="rect">
            <a:avLst/>
          </a:prstGeom>
        </p:spPr>
      </p:pic>
      <p:sp>
        <p:nvSpPr>
          <p:cNvPr id="17" name="tile-name-2"/>
          <p:cNvSpPr txBox="1"/>
          <p:nvPr/>
        </p:nvSpPr>
        <p:spPr>
          <a:xfrm>
            <a:off x="6364224" y="3840480"/>
            <a:ext cx="2240280" cy="365760"/>
          </a:xfrm>
          <a:prstGeom prst="rect">
            <a:avLst/>
          </a:prstGeom>
          <a:noFill/>
          <a:ln/>
        </p:spPr>
        <p:txBody>
          <a:bodyPr wrap="square" lIns="0" tIns="0" rIns="0" bIns="0" rtlCol="0" anchor="ctr"/>
          <a:lstStyle/>
          <a:p>
            <a:pPr indent="0" marL="0">
              <a:buNone/>
            </a:pPr>
            <a:r>
              <a:rPr lang="en-US" sz="1600" b="1" dirty="0">
                <a:solidFill>
                  <a:schemeClr val="bg1"/>
                </a:solidFill>
              </a:rPr>
              <a:t>[Name]</a:t>
            </a:r>
            <a:endParaRPr lang="en-US" sz="1600" dirty="0"/>
          </a:p>
        </p:txBody>
      </p:sp>
      <p:sp>
        <p:nvSpPr>
          <p:cNvPr id="18" name="tile-line-2"/>
          <p:cNvSpPr txBox="1"/>
          <p:nvPr/>
        </p:nvSpPr>
        <p:spPr>
          <a:xfrm>
            <a:off x="6364224" y="4206240"/>
            <a:ext cx="2240280" cy="640080"/>
          </a:xfrm>
          <a:prstGeom prst="rect">
            <a:avLst/>
          </a:prstGeom>
          <a:noFill/>
          <a:ln/>
        </p:spPr>
        <p:txBody>
          <a:bodyPr wrap="square" lIns="0" tIns="0" rIns="0" bIns="0" rtlCol="0" anchor="t"/>
          <a:lstStyle/>
          <a:p>
            <a:pPr indent="0" marL="0">
              <a:buNone/>
            </a:pPr>
            <a:r>
              <a:rPr lang="en-US" sz="1300" dirty="0">
                <a:solidFill>
                  <a:schemeClr val="accent4"/>
                </a:solidFill>
              </a:rPr>
              <a:t>[One line: the problem their project solves]</a:t>
            </a:r>
            <a:endParaRPr lang="en-US" sz="1300" dirty="0"/>
          </a:p>
        </p:txBody>
      </p:sp>
      <p:sp>
        <p:nvSpPr>
          <p:cNvPr id="19" name="tile-3"/>
          <p:cNvSpPr/>
          <p:nvPr/>
        </p:nvSpPr>
        <p:spPr>
          <a:xfrm>
            <a:off x="8997696" y="2011680"/>
            <a:ext cx="2606040" cy="2926080"/>
          </a:xfrm>
          <a:prstGeom prst="roundRect">
            <a:avLst>
              <a:gd name="adj" fmla="val 4211"/>
            </a:avLst>
          </a:prstGeom>
          <a:solidFill>
            <a:schemeClr val="tx2"/>
          </a:solidFill>
          <a:ln w="12700">
            <a:solidFill>
              <a:schemeClr val="tx2"/>
            </a:solidFill>
            <a:prstDash val="solid"/>
          </a:ln>
        </p:spPr>
      </p:sp>
      <p:sp>
        <p:nvSpPr>
          <p:cNvPr id="20" name="tile-img-3"/>
          <p:cNvSpPr/>
          <p:nvPr/>
        </p:nvSpPr>
        <p:spPr>
          <a:xfrm>
            <a:off x="9180576" y="2194560"/>
            <a:ext cx="2240280" cy="1508760"/>
          </a:xfrm>
          <a:prstGeom prst="roundRect">
            <a:avLst>
              <a:gd name="adj" fmla="val 4848"/>
            </a:avLst>
          </a:prstGeom>
          <a:solidFill>
            <a:schemeClr val="tx1"/>
          </a:solidFill>
          <a:ln w="12700">
            <a:solidFill>
              <a:schemeClr val="accent5"/>
            </a:solidFill>
            <a:prstDash val="dash"/>
          </a:ln>
        </p:spPr>
      </p:sp>
      <p:pic>
        <p:nvPicPr>
          <p:cNvPr id="21" name="tile-icon-3" descr="preencoded.png">    </p:cNvPr>
          <p:cNvPicPr>
            <a:picLocks noChangeAspect="1"/>
          </p:cNvPicPr>
          <p:nvPr/>
        </p:nvPicPr>
        <p:blipFill>
          <a:blip r:embed="rId4"/>
          <a:stretch>
            <a:fillRect/>
          </a:stretch>
        </p:blipFill>
        <p:spPr>
          <a:xfrm>
            <a:off x="10003536" y="2651760"/>
            <a:ext cx="594360" cy="594360"/>
          </a:xfrm>
          <a:prstGeom prst="rect">
            <a:avLst/>
          </a:prstGeom>
        </p:spPr>
      </p:pic>
      <p:sp>
        <p:nvSpPr>
          <p:cNvPr id="22" name="tile-name-3"/>
          <p:cNvSpPr txBox="1"/>
          <p:nvPr/>
        </p:nvSpPr>
        <p:spPr>
          <a:xfrm>
            <a:off x="9180576" y="3840480"/>
            <a:ext cx="2240280" cy="365760"/>
          </a:xfrm>
          <a:prstGeom prst="rect">
            <a:avLst/>
          </a:prstGeom>
          <a:noFill/>
          <a:ln/>
        </p:spPr>
        <p:txBody>
          <a:bodyPr wrap="square" lIns="0" tIns="0" rIns="0" bIns="0" rtlCol="0" anchor="ctr"/>
          <a:lstStyle/>
          <a:p>
            <a:pPr indent="0" marL="0">
              <a:buNone/>
            </a:pPr>
            <a:r>
              <a:rPr lang="en-US" sz="1600" b="1" dirty="0">
                <a:solidFill>
                  <a:schemeClr val="bg1"/>
                </a:solidFill>
              </a:rPr>
              <a:t>[Name]</a:t>
            </a:r>
            <a:endParaRPr lang="en-US" sz="1600" dirty="0"/>
          </a:p>
        </p:txBody>
      </p:sp>
      <p:sp>
        <p:nvSpPr>
          <p:cNvPr id="23" name="tile-line-3"/>
          <p:cNvSpPr txBox="1"/>
          <p:nvPr/>
        </p:nvSpPr>
        <p:spPr>
          <a:xfrm>
            <a:off x="9180576" y="4206240"/>
            <a:ext cx="2240280" cy="640080"/>
          </a:xfrm>
          <a:prstGeom prst="rect">
            <a:avLst/>
          </a:prstGeom>
          <a:noFill/>
          <a:ln/>
        </p:spPr>
        <p:txBody>
          <a:bodyPr wrap="square" lIns="0" tIns="0" rIns="0" bIns="0" rtlCol="0" anchor="t"/>
          <a:lstStyle/>
          <a:p>
            <a:pPr indent="0" marL="0">
              <a:buNone/>
            </a:pPr>
            <a:r>
              <a:rPr lang="en-US" sz="1300" dirty="0">
                <a:solidFill>
                  <a:schemeClr val="accent4"/>
                </a:solidFill>
              </a:rPr>
              <a:t>[One line: the problem their project solves]</a:t>
            </a:r>
            <a:endParaRPr lang="en-US" sz="1300" dirty="0"/>
          </a:p>
        </p:txBody>
      </p:sp>
      <p:sp>
        <p:nvSpPr>
          <p:cNvPr id="24" name="ask"/>
          <p:cNvSpPr txBox="1"/>
          <p:nvPr/>
        </p:nvSpPr>
        <p:spPr>
          <a:xfrm>
            <a:off x="548640" y="5257800"/>
            <a:ext cx="11064240" cy="548640"/>
          </a:xfrm>
          <a:prstGeom prst="rect">
            <a:avLst/>
          </a:prstGeom>
          <a:noFill/>
          <a:ln/>
        </p:spPr>
        <p:txBody>
          <a:bodyPr wrap="square" lIns="0" tIns="0" rIns="0" bIns="0" rtlCol="0" anchor="ctr"/>
          <a:lstStyle/>
          <a:p>
            <a:pPr indent="0" marL="0">
              <a:buNone/>
            </a:pPr>
            <a:r>
              <a:rPr lang="en-US" sz="2400" b="1" dirty="0">
                <a:solidFill>
                  <a:schemeClr val="accent3"/>
                </a:solidFill>
              </a:rPr>
              <a:t>Get in touch: </a:t>
            </a:r>
            <a:pPr indent="0" marL="0">
              <a:buNone/>
            </a:pPr>
            <a:r>
              <a:rPr lang="en-US" sz="2400" dirty="0">
                <a:solidFill>
                  <a:schemeClr val="bg1"/>
                </a:solidFill>
              </a:rPr>
              <a:t>funding, collaboration, PhDs</a:t>
            </a:r>
            <a:endParaRPr lang="en-US" sz="2400" dirty="0"/>
          </a:p>
        </p:txBody>
      </p:sp>
      <p:sp>
        <p:nvSpPr>
          <p:cNvPr id="25" name="cdt-link">
            <a:hlinkClick r:id="rId5" tooltip=""/>
          </p:cNvPr>
          <p:cNvSpPr txBox="1"/>
          <p:nvPr/>
        </p:nvSpPr>
        <p:spPr>
          <a:xfrm>
            <a:off x="548640" y="5852160"/>
            <a:ext cx="11064240" cy="411480"/>
          </a:xfrm>
          <a:prstGeom prst="rect">
            <a:avLst/>
          </a:prstGeom>
          <a:noFill/>
          <a:ln/>
        </p:spPr>
        <p:txBody>
          <a:bodyPr wrap="square" lIns="0" tIns="0" rIns="0" bIns="0" rtlCol="0" anchor="ctr"/>
          <a:lstStyle/>
          <a:p>
            <a:pPr indent="0" marL="0">
              <a:buNone/>
            </a:pPr>
            <a:r>
              <a:rPr lang="en-US" sz="16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surrey.ac.uk/artificial-intelligence/cdt</a:t>
            </a:r>
            <a:endParaRPr lang="en-US" sz="1600" dirty="0"/>
          </a:p>
        </p:txBody>
      </p:sp>
    </p:spTree>
  </p:cSld>
  <p:clrMapOvr>
    <a:masterClrMapping/>
  </p:clrMapOvr>
</p:sld>
</file>

<file path=ppt/theme/theme1.xml><?xml version="1.0" encoding="utf-8"?>
<a:theme xmlns:a="http://schemas.openxmlformats.org/drawingml/2006/main" name="HubAI pitch">
  <a:themeElements>
    <a:clrScheme name="HubAI pitch">
      <a:dk1>
        <a:srgbClr val="1D1652"/>
      </a:dk1>
      <a:lt1>
        <a:srgbClr val="FFFFFF"/>
      </a:lt1>
      <a:dk2>
        <a:srgbClr val="3A2F9E"/>
      </a:dk2>
      <a:lt2>
        <a:srgbClr val="F1EDFB"/>
      </a:lt2>
      <a:accent1>
        <a:srgbClr val="6A4FD2"/>
      </a:accent1>
      <a:accent2>
        <a:srgbClr val="19E6FF"/>
      </a:accent2>
      <a:accent3>
        <a:srgbClr val="6DFF7A"/>
      </a:accent3>
      <a:accent4>
        <a:srgbClr val="D5C9F4"/>
      </a:accent4>
      <a:accent5>
        <a:srgbClr val="A48FE6"/>
      </a:accent5>
      <a:accent6>
        <a:srgbClr val="FFB547"/>
      </a:accent6>
      <a:hlink>
        <a:srgbClr val="19E6FF"/>
      </a:hlink>
      <a:folHlink>
        <a:srgbClr val="A48FE6"/>
      </a:folHlink>
    </a:clrScheme>
    <a:fontScheme name="HubAI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HubAI: one board for a team's AI agents</dc:title>
  <dc:subject>PptxGenJS Presentation</dc:subject>
  <dc:creator>Andy Woods</dc:creator>
  <cp:lastModifiedBy>Andy Woods</cp:lastModifiedBy>
  <cp:revision>1</cp:revision>
  <dcterms:created xsi:type="dcterms:W3CDTF">2026-10-18T07:51:45Z</dcterms:created>
  <dcterms:modified xsi:type="dcterms:W3CDTF">2026-10-18T07:51:45Z</dcterms:modified>
</cp:coreProperties>
</file>